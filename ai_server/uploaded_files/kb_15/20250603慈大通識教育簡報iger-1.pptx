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6" r:id="rId2"/>
    <p:sldId id="287" r:id="rId3"/>
    <p:sldId id="289" r:id="rId4"/>
    <p:sldId id="282" r:id="rId5"/>
    <p:sldId id="310" r:id="rId6"/>
    <p:sldId id="314" r:id="rId7"/>
    <p:sldId id="315" r:id="rId8"/>
    <p:sldId id="316" r:id="rId9"/>
    <p:sldId id="317" r:id="rId10"/>
    <p:sldId id="319" r:id="rId11"/>
    <p:sldId id="333" r:id="rId12"/>
  </p:sldIdLst>
  <p:sldSz cx="12192000" cy="6858000"/>
  <p:notesSz cx="7104063" cy="10234613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86A"/>
    <a:srgbClr val="E7EDD3"/>
    <a:srgbClr val="B5885B"/>
    <a:srgbClr val="5F4F21"/>
    <a:srgbClr val="7A5D52"/>
    <a:srgbClr val="9E7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2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A6D69-412F-48A0-B411-2ECBC2706C1B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97CF1-82F9-4FE5-99E9-B7E9B74F25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34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91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91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97CF1-82F9-4FE5-99E9-B7E9B74F25E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edu.tcu.edu.tw/wp-content/uploads/2024/11/113%E6%85%88%E6%BF%9F%E5%A4%A7%E5%AD%B8%E9%80%9A%E8%AD%98%E6%95%99%E8%82%B2%E8%AA%B2%E7%A8%8B%E5%9C%B0%E5%9C%96-4.pdf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8" name="矩形 7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矩形 53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02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通識教育組織與架構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pic>
        <p:nvPicPr>
          <p:cNvPr id="55" name="圖片 54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10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1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kumimoji="0" lang="zh-TW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源流明體 R" panose="02020400000000000000" pitchFamily="18" charset="-120"/>
                  <a:ea typeface="源流明體 R" panose="02020400000000000000" pitchFamily="18" charset="-120"/>
                </a:rPr>
                <a:t>數位</a:t>
              </a:r>
              <a:r>
                <a:rPr kumimoji="0" lang="en-US" altLang="zh-TW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源流明體 R" panose="02020400000000000000" pitchFamily="18" charset="-120"/>
                  <a:ea typeface="源流明體 R" panose="02020400000000000000" pitchFamily="18" charset="-120"/>
                </a:rPr>
                <a:t>AI</a:t>
              </a:r>
              <a:r>
                <a:rPr kumimoji="0" lang="zh-TW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源流明體 R" panose="02020400000000000000" pitchFamily="18" charset="-120"/>
                  <a:ea typeface="源流明體 R" panose="02020400000000000000" pitchFamily="18" charset="-120"/>
                </a:rPr>
                <a:t>與永續發展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源流明體 R" panose="02020400000000000000" pitchFamily="18" charset="-120"/>
                <a:ea typeface="源流明體 R" panose="02020400000000000000" pitchFamily="18" charset="-120"/>
              </a:endParaRPr>
            </a:p>
          </p:txBody>
        </p:sp>
      </p:grpSp>
      <p:pic>
        <p:nvPicPr>
          <p:cNvPr id="7" name="Picture 4" descr="未提供相片說明。">
            <a:extLst>
              <a:ext uri="{FF2B5EF4-FFF2-40B4-BE49-F238E27FC236}">
                <a16:creationId xmlns:a16="http://schemas.microsoft.com/office/drawing/2014/main" id="{C5A352E7-A390-55EC-8919-03409A7B6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788" y="1893535"/>
            <a:ext cx="7507734" cy="4964465"/>
          </a:xfrm>
          <a:prstGeom prst="rect">
            <a:avLst/>
          </a:prstGeom>
          <a:noFill/>
          <a:effectLst>
            <a:glow>
              <a:schemeClr val="accent1"/>
            </a:glow>
            <a:outerShdw sx="1000" sy="1000" algn="ctr" rotWithShape="0">
              <a:srgbClr val="000000">
                <a:alpha val="99000"/>
              </a:srgbClr>
            </a:outerShdw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48109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8" name="矩形 7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矩形 53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02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通識教育組織與架構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pic>
        <p:nvPicPr>
          <p:cNvPr id="55" name="圖片 54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10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1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大學部四年制博雅教育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源流明體 R" panose="02020400000000000000" pitchFamily="18" charset="-120"/>
                <a:ea typeface="源流明體 R" panose="02020400000000000000" pitchFamily="18" charset="-120"/>
              </a:endParaRPr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67234"/>
              </p:ext>
            </p:extLst>
          </p:nvPr>
        </p:nvGraphicFramePr>
        <p:xfrm>
          <a:off x="2045614" y="2206223"/>
          <a:ext cx="8128000" cy="345228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3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單位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校核心必修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院通識選修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選修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03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通識教育中心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(28)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中文閱讀與書寫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</a:p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基礎英文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</a:p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慈濟人文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</a:p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程式設計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4</a:t>
                      </a: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學分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16</a:t>
                      </a: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學分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3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體育教學中心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(3)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運動與健康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-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1</a:t>
                      </a: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學分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31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外語教學中心</a:t>
                      </a:r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(2)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-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-</a:t>
                      </a:r>
                      <a:endParaRPr lang="zh-TW" altLang="en-US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R" panose="02020400000000000000" pitchFamily="18" charset="-120"/>
                        <a:ea typeface="源流明體 R" panose="02020400000000000000" pitchFamily="18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2</a:t>
                      </a: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學分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81629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8" name="矩形 7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4" name="矩形 53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03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推動策略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pic>
        <p:nvPicPr>
          <p:cNvPr id="55" name="圖片 54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10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1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zh-TW" altLang="en-US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慈濟大學通識教育課程地圖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源流明體 R" panose="02020400000000000000" pitchFamily="18" charset="-120"/>
                <a:ea typeface="源流明體 R" panose="02020400000000000000" pitchFamily="18" charset="-120"/>
              </a:endParaRPr>
            </a:p>
          </p:txBody>
        </p:sp>
      </p:grpSp>
      <p:pic>
        <p:nvPicPr>
          <p:cNvPr id="15" name="圖片 1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5244" y="1943123"/>
            <a:ext cx="6696726" cy="43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1977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58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59" name="矩形 58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矩形 71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05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專業與通識的關係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grpSp>
        <p:nvGrpSpPr>
          <p:cNvPr id="75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8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院通識 </a:t>
              </a:r>
              <a:r>
                <a:rPr lang="en-US" altLang="zh-TW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4</a:t>
              </a:r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學分</a:t>
              </a:r>
            </a:p>
          </p:txBody>
        </p:sp>
      </p:grpSp>
      <p:sp>
        <p:nvSpPr>
          <p:cNvPr id="7" name="文字方塊 6"/>
          <p:cNvSpPr txBox="1"/>
          <p:nvPr/>
        </p:nvSpPr>
        <p:spPr>
          <a:xfrm>
            <a:off x="1406203" y="2025616"/>
            <a:ext cx="9344971" cy="795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TW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配合院實體化強化各院學生特色與優勢營造，由院指定或與院共同規劃相關課程。</a:t>
            </a:r>
            <a:endParaRPr lang="en-US" altLang="zh-TW" sz="2000" dirty="0">
              <a:solidFill>
                <a:schemeClr val="tx1">
                  <a:lumMod val="65000"/>
                  <a:lumOff val="35000"/>
                </a:schemeClr>
              </a:solidFill>
              <a:latin typeface="源流明體 R" panose="02020400000000000000" pitchFamily="18" charset="-120"/>
              <a:ea typeface="源流明體 R" panose="02020400000000000000" pitchFamily="18" charset="-120"/>
            </a:endParaRPr>
          </a:p>
          <a:p>
            <a:pPr>
              <a:lnSpc>
                <a:spcPts val="2900"/>
              </a:lnSpc>
            </a:pP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(112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學年度第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2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學期第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1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次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【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共同教育委員會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】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次會議紀錄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113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年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4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月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29</a:t>
            </a:r>
            <a:r>
              <a:rPr lang="zh-TW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日</a:t>
            </a:r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源流明體 R" panose="02020400000000000000" pitchFamily="18" charset="-120"/>
                <a:ea typeface="源流明體 R" panose="02020400000000000000" pitchFamily="18" charset="-120"/>
              </a:rPr>
              <a:t>)</a:t>
            </a:r>
            <a:endParaRPr lang="zh-TW" altLang="en-US" sz="4000" dirty="0">
              <a:solidFill>
                <a:schemeClr val="tx1">
                  <a:lumMod val="65000"/>
                  <a:lumOff val="35000"/>
                </a:schemeClr>
              </a:solidFill>
              <a:latin typeface="源流明體 R" panose="02020400000000000000" pitchFamily="18" charset="-120"/>
              <a:ea typeface="源流明體 R" panose="02020400000000000000" pitchFamily="18" charset="-12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384882"/>
              </p:ext>
            </p:extLst>
          </p:nvPr>
        </p:nvGraphicFramePr>
        <p:xfrm>
          <a:off x="1406201" y="3132130"/>
          <a:ext cx="9348155" cy="17785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69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96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50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</a:rPr>
                        <a:t>智慧永續管理學院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生物醫學科技學院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醫學院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護理學院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人文傳播暨社會科學院</a:t>
                      </a:r>
                    </a:p>
                  </a:txBody>
                  <a:tcPr marL="105166" marR="105166" marT="52584" marB="5258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人工智慧之原理與倫理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工程中的永續實踐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醫療專業科系與角色探索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護理職場的溝通技巧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人工智慧之原理與倫理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氣候變遷與永續發展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工程倫理與職場人文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AI</a:t>
                      </a: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素養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護理倫理與人文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氣候變遷與永續發展 </a:t>
                      </a:r>
                      <a:r>
                        <a:rPr lang="en-US" altLang="zh-TW" sz="16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2</a:t>
                      </a:r>
                    </a:p>
                  </a:txBody>
                  <a:tcPr marL="105166" marR="105166" marT="52584" marB="5258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530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58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59" name="矩形 58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矩形 71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06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通識教育中心開課情形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grpSp>
        <p:nvGrpSpPr>
          <p:cNvPr id="75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8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大學四年制學分規劃</a:t>
              </a: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2244198" y="2081208"/>
            <a:ext cx="7067772" cy="4151805"/>
            <a:chOff x="1009428" y="491717"/>
            <a:chExt cx="9718880" cy="5709139"/>
          </a:xfrm>
        </p:grpSpPr>
        <p:sp>
          <p:nvSpPr>
            <p:cNvPr id="29" name="手繪多邊形 28"/>
            <p:cNvSpPr/>
            <p:nvPr/>
          </p:nvSpPr>
          <p:spPr>
            <a:xfrm>
              <a:off x="4001794" y="1568994"/>
              <a:ext cx="1783055" cy="917360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基礎英文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0" name="手繪多邊形 29"/>
            <p:cNvSpPr/>
            <p:nvPr/>
          </p:nvSpPr>
          <p:spPr>
            <a:xfrm>
              <a:off x="5930182" y="1581863"/>
              <a:ext cx="1858761" cy="904412"/>
            </a:xfrm>
            <a:custGeom>
              <a:avLst/>
              <a:gdLst>
                <a:gd name="connsiteX0" fmla="*/ 0 w 934144"/>
                <a:gd name="connsiteY0" fmla="*/ 0 h 783546"/>
                <a:gd name="connsiteX1" fmla="*/ 934144 w 934144"/>
                <a:gd name="connsiteY1" fmla="*/ 0 h 783546"/>
                <a:gd name="connsiteX2" fmla="*/ 934144 w 934144"/>
                <a:gd name="connsiteY2" fmla="*/ 783546 h 783546"/>
                <a:gd name="connsiteX3" fmla="*/ 0 w 934144"/>
                <a:gd name="connsiteY3" fmla="*/ 783546 h 783546"/>
                <a:gd name="connsiteX4" fmla="*/ 0 w 934144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44" h="783546">
                  <a:moveTo>
                    <a:pt x="0" y="0"/>
                  </a:moveTo>
                  <a:lnTo>
                    <a:pt x="934144" y="0"/>
                  </a:lnTo>
                  <a:lnTo>
                    <a:pt x="934144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慈濟人文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712402" y="806645"/>
              <a:ext cx="6367411" cy="636392"/>
            </a:xfrm>
            <a:prstGeom prst="rect">
              <a:avLst/>
            </a:prstGeom>
            <a:solidFill>
              <a:srgbClr val="6D986A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核心通識 必修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8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2712403" y="3122918"/>
              <a:ext cx="6367411" cy="623612"/>
            </a:xfrm>
            <a:prstGeom prst="rect">
              <a:avLst/>
            </a:prstGeom>
            <a:solidFill>
              <a:srgbClr val="6D986A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院通識 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4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2689065" y="4316284"/>
              <a:ext cx="6367411" cy="633498"/>
            </a:xfrm>
            <a:prstGeom prst="rect">
              <a:avLst/>
            </a:prstGeom>
            <a:solidFill>
              <a:srgbClr val="6D986A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通識選修 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16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2689065" y="5121132"/>
              <a:ext cx="3095785" cy="6681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各系設擋修</a:t>
              </a: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7881145" y="1572660"/>
              <a:ext cx="1939929" cy="9080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algn="ctr" fontAlgn="auto">
                <a:lnSpc>
                  <a:spcPct val="90000"/>
                </a:lnSpc>
                <a:defRPr/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程式設計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5930182" y="5092812"/>
              <a:ext cx="3126294" cy="6964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微學分課程</a:t>
              </a:r>
            </a:p>
          </p:txBody>
        </p:sp>
        <p:cxnSp>
          <p:nvCxnSpPr>
            <p:cNvPr id="37" name="直線接點 36"/>
            <p:cNvCxnSpPr/>
            <p:nvPr/>
          </p:nvCxnSpPr>
          <p:spPr>
            <a:xfrm flipV="1">
              <a:off x="1688151" y="2773555"/>
              <a:ext cx="8317663" cy="2265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>
              <a:off x="1692556" y="4087972"/>
              <a:ext cx="8313258" cy="4214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手繪多邊形 38"/>
            <p:cNvSpPr/>
            <p:nvPr/>
          </p:nvSpPr>
          <p:spPr>
            <a:xfrm>
              <a:off x="1782181" y="1589079"/>
              <a:ext cx="2127412" cy="917357"/>
            </a:xfrm>
            <a:custGeom>
              <a:avLst/>
              <a:gdLst>
                <a:gd name="connsiteX0" fmla="*/ 0 w 1010367"/>
                <a:gd name="connsiteY0" fmla="*/ 0 h 783546"/>
                <a:gd name="connsiteX1" fmla="*/ 1010367 w 1010367"/>
                <a:gd name="connsiteY1" fmla="*/ 0 h 783546"/>
                <a:gd name="connsiteX2" fmla="*/ 1010367 w 1010367"/>
                <a:gd name="connsiteY2" fmla="*/ 783546 h 783546"/>
                <a:gd name="connsiteX3" fmla="*/ 0 w 1010367"/>
                <a:gd name="connsiteY3" fmla="*/ 783546 h 783546"/>
                <a:gd name="connsiteX4" fmla="*/ 0 w 1010367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367" h="783546">
                  <a:moveTo>
                    <a:pt x="0" y="0"/>
                  </a:moveTo>
                  <a:lnTo>
                    <a:pt x="1010367" y="0"/>
                  </a:lnTo>
                  <a:lnTo>
                    <a:pt x="1010367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中文閱讀</a:t>
              </a:r>
              <a:endPara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及書寫 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40" name="圓角矩形 39"/>
            <p:cNvSpPr/>
            <p:nvPr/>
          </p:nvSpPr>
          <p:spPr bwMode="auto">
            <a:xfrm>
              <a:off x="1009428" y="491717"/>
              <a:ext cx="9718880" cy="5709139"/>
            </a:xfrm>
            <a:prstGeom prst="roundRect">
              <a:avLst/>
            </a:prstGeom>
            <a:noFill/>
            <a:ln w="19050" cap="flat" cmpd="sng" algn="ctr">
              <a:solidFill>
                <a:srgbClr val="7A5D5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76181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58" name="组合 1"/>
          <p:cNvGrpSpPr/>
          <p:nvPr/>
        </p:nvGrpSpPr>
        <p:grpSpPr>
          <a:xfrm>
            <a:off x="-6350" y="307975"/>
            <a:ext cx="3248660" cy="499110"/>
            <a:chOff x="-35" y="638"/>
            <a:chExt cx="5116" cy="786"/>
          </a:xfrm>
          <a:solidFill>
            <a:srgbClr val="6D986A"/>
          </a:solidFill>
        </p:grpSpPr>
        <p:sp>
          <p:nvSpPr>
            <p:cNvPr id="59" name="矩形 58"/>
            <p:cNvSpPr/>
            <p:nvPr/>
          </p:nvSpPr>
          <p:spPr>
            <a:xfrm>
              <a:off x="-35" y="638"/>
              <a:ext cx="4613" cy="7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/>
            <p:cNvSpPr/>
            <p:nvPr/>
          </p:nvSpPr>
          <p:spPr>
            <a:xfrm rot="5400000">
              <a:off x="4436" y="779"/>
              <a:ext cx="787" cy="50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2" name="矩形 71"/>
          <p:cNvSpPr/>
          <p:nvPr/>
        </p:nvSpPr>
        <p:spPr>
          <a:xfrm>
            <a:off x="220345" y="363220"/>
            <a:ext cx="2862262" cy="3886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TW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06</a:t>
            </a:r>
            <a:r>
              <a:rPr lang="zh-TW" altLang="en-US" sz="16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 通識教育中心開課情形</a:t>
            </a:r>
            <a:endParaRPr lang="en-US" altLang="zh-CN" sz="1600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grpSp>
        <p:nvGrpSpPr>
          <p:cNvPr id="75" name="组合 77"/>
          <p:cNvGrpSpPr/>
          <p:nvPr/>
        </p:nvGrpSpPr>
        <p:grpSpPr>
          <a:xfrm>
            <a:off x="1406204" y="1514061"/>
            <a:ext cx="9344970" cy="328930"/>
            <a:chOff x="1425" y="2407"/>
            <a:chExt cx="11092" cy="518"/>
          </a:xfrm>
        </p:grpSpPr>
        <p:cxnSp>
          <p:nvCxnSpPr>
            <p:cNvPr id="8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五專部訂及校訂科目</a:t>
              </a: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2244198" y="2266949"/>
            <a:ext cx="7067772" cy="3562351"/>
            <a:chOff x="1009428" y="1467509"/>
            <a:chExt cx="9718880" cy="4898581"/>
          </a:xfrm>
        </p:grpSpPr>
        <p:sp>
          <p:nvSpPr>
            <p:cNvPr id="31" name="矩形 30"/>
            <p:cNvSpPr/>
            <p:nvPr/>
          </p:nvSpPr>
          <p:spPr>
            <a:xfrm>
              <a:off x="2712402" y="1998545"/>
              <a:ext cx="6367411" cy="636393"/>
            </a:xfrm>
            <a:prstGeom prst="rect">
              <a:avLst/>
            </a:prstGeom>
            <a:solidFill>
              <a:srgbClr val="6D986A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部定及校訂必修 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84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40" name="圓角矩形 39"/>
            <p:cNvSpPr/>
            <p:nvPr/>
          </p:nvSpPr>
          <p:spPr bwMode="auto">
            <a:xfrm>
              <a:off x="1009428" y="1467509"/>
              <a:ext cx="9718880" cy="4898581"/>
            </a:xfrm>
            <a:prstGeom prst="roundRect">
              <a:avLst/>
            </a:prstGeom>
            <a:noFill/>
            <a:ln w="19050" cap="flat" cmpd="sng" algn="ctr">
              <a:solidFill>
                <a:srgbClr val="7A5D5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3482636" y="3192873"/>
            <a:ext cx="4626403" cy="1274351"/>
            <a:chOff x="2185831" y="4314197"/>
            <a:chExt cx="7917935" cy="2181009"/>
          </a:xfrm>
        </p:grpSpPr>
        <p:sp>
          <p:nvSpPr>
            <p:cNvPr id="17" name="手繪多邊形 16"/>
            <p:cNvSpPr/>
            <p:nvPr/>
          </p:nvSpPr>
          <p:spPr>
            <a:xfrm>
              <a:off x="2185832" y="4314197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語文領域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36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18" name="手繪多邊形 17"/>
            <p:cNvSpPr/>
            <p:nvPr/>
          </p:nvSpPr>
          <p:spPr>
            <a:xfrm>
              <a:off x="4197116" y="5447453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科技領域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19" name="手繪多邊形 18"/>
            <p:cNvSpPr/>
            <p:nvPr/>
          </p:nvSpPr>
          <p:spPr>
            <a:xfrm>
              <a:off x="2185831" y="5447453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藝術領域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4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20" name="手繪多邊形 19"/>
            <p:cNvSpPr/>
            <p:nvPr/>
          </p:nvSpPr>
          <p:spPr>
            <a:xfrm>
              <a:off x="6208402" y="4317555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4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自然科學領域</a:t>
              </a: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10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21" name="手繪多邊形 20"/>
            <p:cNvSpPr/>
            <p:nvPr/>
          </p:nvSpPr>
          <p:spPr>
            <a:xfrm>
              <a:off x="4197725" y="4321305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數學領域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6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22" name="手繪多邊形 21"/>
            <p:cNvSpPr/>
            <p:nvPr/>
          </p:nvSpPr>
          <p:spPr>
            <a:xfrm>
              <a:off x="8199019" y="4318784"/>
              <a:ext cx="1904747" cy="1047314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社會領域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6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23" name="手繪多邊形 22"/>
            <p:cNvSpPr/>
            <p:nvPr/>
          </p:nvSpPr>
          <p:spPr>
            <a:xfrm>
              <a:off x="8199018" y="5447452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健康與體育</a:t>
              </a: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12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24" name="手繪多邊形 23"/>
            <p:cNvSpPr/>
            <p:nvPr/>
          </p:nvSpPr>
          <p:spPr>
            <a:xfrm>
              <a:off x="6208402" y="5447893"/>
              <a:ext cx="1904747" cy="1047313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綜合活動</a:t>
              </a:r>
              <a:endParaRPr lang="en-US" altLang="zh-TW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 defTabSz="889000"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TW" sz="16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8</a:t>
              </a:r>
              <a:endParaRPr lang="zh-TW" altLang="en-US" sz="16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3482637" y="4983023"/>
            <a:ext cx="4630514" cy="460693"/>
          </a:xfrm>
          <a:prstGeom prst="rect">
            <a:avLst/>
          </a:prstGeom>
          <a:solidFill>
            <a:srgbClr val="6D986A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源流明體 L" panose="02020300000000000000" pitchFamily="18" charset="-120"/>
                <a:ea typeface="源流明體 L" panose="02020300000000000000" pitchFamily="18" charset="-120"/>
              </a:rPr>
              <a:t>專業及通識選修 </a:t>
            </a:r>
            <a:r>
              <a:rPr lang="en-US" altLang="zh-TW" sz="2800" b="1" dirty="0">
                <a:solidFill>
                  <a:schemeClr val="bg1"/>
                </a:solidFill>
                <a:latin typeface="源流明體 L" panose="02020300000000000000" pitchFamily="18" charset="-120"/>
                <a:ea typeface="源流明體 L" panose="02020300000000000000" pitchFamily="18" charset="-120"/>
              </a:rPr>
              <a:t>25</a:t>
            </a:r>
            <a:r>
              <a:rPr lang="zh-TW" altLang="en-US" sz="2800" b="1" dirty="0">
                <a:solidFill>
                  <a:schemeClr val="bg1"/>
                </a:solidFill>
                <a:latin typeface="源流明體 L" panose="02020300000000000000" pitchFamily="18" charset="-120"/>
                <a:ea typeface="源流明體 L" panose="02020300000000000000" pitchFamily="18" charset="-120"/>
              </a:rPr>
              <a:t>學分</a:t>
            </a:r>
          </a:p>
        </p:txBody>
      </p:sp>
      <p:cxnSp>
        <p:nvCxnSpPr>
          <p:cNvPr id="27" name="直線接點 26"/>
          <p:cNvCxnSpPr/>
          <p:nvPr/>
        </p:nvCxnSpPr>
        <p:spPr>
          <a:xfrm flipV="1">
            <a:off x="2754752" y="4727893"/>
            <a:ext cx="6048778" cy="1647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4282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020" y="-22860"/>
            <a:ext cx="2724150" cy="202819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020" y="4767580"/>
            <a:ext cx="1676400" cy="219456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132330" y="2044065"/>
            <a:ext cx="7925435" cy="2760980"/>
          </a:xfrm>
          <a:prstGeom prst="rect">
            <a:avLst/>
          </a:prstGeom>
          <a:noFill/>
          <a:ln w="31750" cap="flat">
            <a:solidFill>
              <a:srgbClr val="6D986A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41137" y="2331484"/>
            <a:ext cx="31099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6D986A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PART.07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48380" y="3103245"/>
            <a:ext cx="5095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3200" dirty="0">
                <a:solidFill>
                  <a:srgbClr val="6D986A"/>
                </a:solidFill>
                <a:latin typeface="源流明體 H" panose="02020900000000000000" pitchFamily="18" charset="-120"/>
                <a:ea typeface="源流明體 H" panose="02020900000000000000" pitchFamily="18" charset="-120"/>
              </a:rPr>
              <a:t>開設程式設計相關課程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62530" y="3716020"/>
            <a:ext cx="726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</a:pP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提供實用程式設計課程，培養基礎運算與應用能力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1789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-6350" y="307975"/>
            <a:ext cx="3248660" cy="499110"/>
            <a:chOff x="-6350" y="307975"/>
            <a:chExt cx="3248660" cy="499110"/>
          </a:xfrm>
        </p:grpSpPr>
        <p:grpSp>
          <p:nvGrpSpPr>
            <p:cNvPr id="58" name="组合 1"/>
            <p:cNvGrpSpPr/>
            <p:nvPr/>
          </p:nvGrpSpPr>
          <p:grpSpPr>
            <a:xfrm>
              <a:off x="-6350" y="307975"/>
              <a:ext cx="3248660" cy="499110"/>
              <a:chOff x="-35" y="638"/>
              <a:chExt cx="5116" cy="786"/>
            </a:xfrm>
            <a:solidFill>
              <a:srgbClr val="6D986A"/>
            </a:solidFill>
          </p:grpSpPr>
          <p:sp>
            <p:nvSpPr>
              <p:cNvPr id="59" name="矩形 58"/>
              <p:cNvSpPr/>
              <p:nvPr/>
            </p:nvSpPr>
            <p:spPr>
              <a:xfrm>
                <a:off x="-35" y="638"/>
                <a:ext cx="4613" cy="7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等腰三角形 59"/>
              <p:cNvSpPr/>
              <p:nvPr/>
            </p:nvSpPr>
            <p:spPr>
              <a:xfrm rot="5400000">
                <a:off x="4436" y="779"/>
                <a:ext cx="787" cy="50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" name="矩形 71"/>
            <p:cNvSpPr/>
            <p:nvPr/>
          </p:nvSpPr>
          <p:spPr>
            <a:xfrm>
              <a:off x="220345" y="363220"/>
              <a:ext cx="2862262" cy="38862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zh-TW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07</a:t>
              </a:r>
              <a:r>
                <a:rPr lang="zh-TW" altLang="en-US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 開設程式設計相關課程</a:t>
              </a:r>
              <a:endParaRPr lang="en-US" altLang="zh-CN" sz="1600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  <a:sym typeface="+mn-ea"/>
              </a:endParaRPr>
            </a:p>
          </p:txBody>
        </p:sp>
      </p:grpSp>
      <p:grpSp>
        <p:nvGrpSpPr>
          <p:cNvPr id="75" name="组合 77"/>
          <p:cNvGrpSpPr/>
          <p:nvPr/>
        </p:nvGrpSpPr>
        <p:grpSpPr>
          <a:xfrm>
            <a:off x="1406203" y="1514061"/>
            <a:ext cx="9344969" cy="328930"/>
            <a:chOff x="1425" y="2407"/>
            <a:chExt cx="11092" cy="518"/>
          </a:xfrm>
        </p:grpSpPr>
        <p:cxnSp>
          <p:nvCxnSpPr>
            <p:cNvPr id="8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程式設計相關課程</a:t>
              </a: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444098" y="2081208"/>
            <a:ext cx="7067772" cy="4151805"/>
            <a:chOff x="1009428" y="491717"/>
            <a:chExt cx="9718880" cy="5709139"/>
          </a:xfrm>
        </p:grpSpPr>
        <p:sp>
          <p:nvSpPr>
            <p:cNvPr id="29" name="手繪多邊形 28"/>
            <p:cNvSpPr/>
            <p:nvPr/>
          </p:nvSpPr>
          <p:spPr>
            <a:xfrm>
              <a:off x="4001794" y="1568994"/>
              <a:ext cx="1783055" cy="917360"/>
            </a:xfrm>
            <a:custGeom>
              <a:avLst/>
              <a:gdLst>
                <a:gd name="connsiteX0" fmla="*/ 0 w 1019049"/>
                <a:gd name="connsiteY0" fmla="*/ 0 h 783546"/>
                <a:gd name="connsiteX1" fmla="*/ 1019049 w 1019049"/>
                <a:gd name="connsiteY1" fmla="*/ 0 h 783546"/>
                <a:gd name="connsiteX2" fmla="*/ 1019049 w 1019049"/>
                <a:gd name="connsiteY2" fmla="*/ 783546 h 783546"/>
                <a:gd name="connsiteX3" fmla="*/ 0 w 1019049"/>
                <a:gd name="connsiteY3" fmla="*/ 783546 h 783546"/>
                <a:gd name="connsiteX4" fmla="*/ 0 w 1019049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049" h="783546">
                  <a:moveTo>
                    <a:pt x="0" y="0"/>
                  </a:moveTo>
                  <a:lnTo>
                    <a:pt x="1019049" y="0"/>
                  </a:lnTo>
                  <a:lnTo>
                    <a:pt x="1019049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基礎英文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0" name="手繪多邊形 29"/>
            <p:cNvSpPr/>
            <p:nvPr/>
          </p:nvSpPr>
          <p:spPr>
            <a:xfrm>
              <a:off x="5930182" y="1581863"/>
              <a:ext cx="1858761" cy="904412"/>
            </a:xfrm>
            <a:custGeom>
              <a:avLst/>
              <a:gdLst>
                <a:gd name="connsiteX0" fmla="*/ 0 w 934144"/>
                <a:gd name="connsiteY0" fmla="*/ 0 h 783546"/>
                <a:gd name="connsiteX1" fmla="*/ 934144 w 934144"/>
                <a:gd name="connsiteY1" fmla="*/ 0 h 783546"/>
                <a:gd name="connsiteX2" fmla="*/ 934144 w 934144"/>
                <a:gd name="connsiteY2" fmla="*/ 783546 h 783546"/>
                <a:gd name="connsiteX3" fmla="*/ 0 w 934144"/>
                <a:gd name="connsiteY3" fmla="*/ 783546 h 783546"/>
                <a:gd name="connsiteX4" fmla="*/ 0 w 934144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4144" h="783546">
                  <a:moveTo>
                    <a:pt x="0" y="0"/>
                  </a:moveTo>
                  <a:lnTo>
                    <a:pt x="934144" y="0"/>
                  </a:lnTo>
                  <a:lnTo>
                    <a:pt x="934144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慈濟人文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712402" y="806645"/>
              <a:ext cx="6367411" cy="636392"/>
            </a:xfrm>
            <a:prstGeom prst="rect">
              <a:avLst/>
            </a:prstGeom>
            <a:solidFill>
              <a:srgbClr val="6D986A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核心通識 必修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8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2712403" y="3122918"/>
              <a:ext cx="6367411" cy="623612"/>
            </a:xfrm>
            <a:prstGeom prst="rect">
              <a:avLst/>
            </a:prstGeom>
            <a:solidFill>
              <a:srgbClr val="6D986A"/>
            </a:solidFill>
            <a:ln w="57150">
              <a:solidFill>
                <a:srgbClr val="C00000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院通識 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4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2689065" y="4316284"/>
              <a:ext cx="6367411" cy="633498"/>
            </a:xfrm>
            <a:prstGeom prst="rect">
              <a:avLst/>
            </a:prstGeom>
            <a:solidFill>
              <a:srgbClr val="6D986A"/>
            </a:solidFill>
            <a:ln w="57150">
              <a:solidFill>
                <a:srgbClr val="C00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通識選修 </a:t>
              </a:r>
              <a:r>
                <a:rPr lang="en-US" altLang="zh-TW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16</a:t>
              </a:r>
              <a:r>
                <a:rPr lang="zh-TW" altLang="en-US" sz="2800" b="1" dirty="0">
                  <a:solidFill>
                    <a:schemeClr val="bg1"/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學分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2689065" y="5121132"/>
              <a:ext cx="3095785" cy="66816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各系設擋修</a:t>
              </a: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7881145" y="1572660"/>
              <a:ext cx="1939929" cy="9080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7150">
              <a:solidFill>
                <a:srgbClr val="C0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algn="ctr" fontAlgn="auto">
                <a:lnSpc>
                  <a:spcPct val="90000"/>
                </a:lnSpc>
                <a:defRPr/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程式設計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930182" y="5092812"/>
              <a:ext cx="3126294" cy="6964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微學分課程</a:t>
              </a:r>
            </a:p>
          </p:txBody>
        </p:sp>
        <p:cxnSp>
          <p:nvCxnSpPr>
            <p:cNvPr id="38" name="直線接點 37"/>
            <p:cNvCxnSpPr/>
            <p:nvPr/>
          </p:nvCxnSpPr>
          <p:spPr>
            <a:xfrm flipV="1">
              <a:off x="1688151" y="2773555"/>
              <a:ext cx="8317663" cy="2265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>
              <a:off x="1692556" y="4087972"/>
              <a:ext cx="8313258" cy="4214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手繪多邊形 40"/>
            <p:cNvSpPr/>
            <p:nvPr/>
          </p:nvSpPr>
          <p:spPr>
            <a:xfrm>
              <a:off x="1782181" y="1589079"/>
              <a:ext cx="2127412" cy="917357"/>
            </a:xfrm>
            <a:custGeom>
              <a:avLst/>
              <a:gdLst>
                <a:gd name="connsiteX0" fmla="*/ 0 w 1010367"/>
                <a:gd name="connsiteY0" fmla="*/ 0 h 783546"/>
                <a:gd name="connsiteX1" fmla="*/ 1010367 w 1010367"/>
                <a:gd name="connsiteY1" fmla="*/ 0 h 783546"/>
                <a:gd name="connsiteX2" fmla="*/ 1010367 w 1010367"/>
                <a:gd name="connsiteY2" fmla="*/ 783546 h 783546"/>
                <a:gd name="connsiteX3" fmla="*/ 0 w 1010367"/>
                <a:gd name="connsiteY3" fmla="*/ 783546 h 783546"/>
                <a:gd name="connsiteX4" fmla="*/ 0 w 1010367"/>
                <a:gd name="connsiteY4" fmla="*/ 0 h 7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367" h="783546">
                  <a:moveTo>
                    <a:pt x="0" y="0"/>
                  </a:moveTo>
                  <a:lnTo>
                    <a:pt x="1010367" y="0"/>
                  </a:lnTo>
                  <a:lnTo>
                    <a:pt x="1010367" y="783546"/>
                  </a:lnTo>
                  <a:lnTo>
                    <a:pt x="0" y="783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中文閱讀</a:t>
              </a:r>
              <a:endPara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  <a:p>
              <a:pPr algn="ctr">
                <a:lnSpc>
                  <a:spcPct val="90000"/>
                </a:lnSpc>
                <a:spcAft>
                  <a:spcPts val="0"/>
                </a:spcAft>
              </a:pPr>
              <a:r>
                <a:rPr lang="zh-TW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及書寫 </a:t>
              </a:r>
              <a:r>
                <a:rPr lang="en-US" altLang="zh-TW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源流明體 L" panose="02020300000000000000" pitchFamily="18" charset="-120"/>
                  <a:ea typeface="源流明體 L" panose="02020300000000000000" pitchFamily="18" charset="-120"/>
                </a:rPr>
                <a:t>2</a:t>
              </a:r>
              <a:endPara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源流明體 L" panose="02020300000000000000" pitchFamily="18" charset="-120"/>
                <a:ea typeface="源流明體 L" panose="02020300000000000000" pitchFamily="18" charset="-120"/>
              </a:endParaRPr>
            </a:p>
          </p:txBody>
        </p:sp>
        <p:sp>
          <p:nvSpPr>
            <p:cNvPr id="42" name="圓角矩形 41"/>
            <p:cNvSpPr/>
            <p:nvPr/>
          </p:nvSpPr>
          <p:spPr bwMode="auto">
            <a:xfrm>
              <a:off x="1009428" y="491717"/>
              <a:ext cx="9718880" cy="5709139"/>
            </a:xfrm>
            <a:prstGeom prst="roundRect">
              <a:avLst/>
            </a:prstGeom>
            <a:noFill/>
            <a:ln w="19050" cap="flat" cmpd="sng" algn="ctr">
              <a:solidFill>
                <a:srgbClr val="7A5D5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</p:grpSp>
      <p:sp>
        <p:nvSpPr>
          <p:cNvPr id="7" name="向左箭號圖說文字 6"/>
          <p:cNvSpPr/>
          <p:nvPr/>
        </p:nvSpPr>
        <p:spPr>
          <a:xfrm>
            <a:off x="7852111" y="2617876"/>
            <a:ext cx="2966384" cy="1173576"/>
          </a:xfrm>
          <a:prstGeom prst="leftArrowCallout">
            <a:avLst/>
          </a:prstGeom>
          <a:solidFill>
            <a:srgbClr val="B5885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邏輯與運算思維</a:t>
            </a:r>
            <a:endParaRPr lang="en-US" altLang="zh-TW" sz="1400" b="1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網頁視覺程式設計</a:t>
            </a:r>
            <a:endParaRPr lang="en-US" altLang="zh-TW" sz="1400" b="1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APP</a:t>
            </a: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程式設計入門</a:t>
            </a:r>
          </a:p>
        </p:txBody>
      </p:sp>
      <p:sp>
        <p:nvSpPr>
          <p:cNvPr id="43" name="向左箭號圖說文字 42"/>
          <p:cNvSpPr/>
          <p:nvPr/>
        </p:nvSpPr>
        <p:spPr>
          <a:xfrm>
            <a:off x="7313051" y="3797255"/>
            <a:ext cx="3521410" cy="783873"/>
          </a:xfrm>
          <a:prstGeom prst="leftArrowCallout">
            <a:avLst/>
          </a:prstGeom>
          <a:solidFill>
            <a:srgbClr val="B5885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人工智慧之原理與倫理</a:t>
            </a:r>
            <a:endParaRPr lang="en-US" altLang="zh-TW" sz="1400" b="1" dirty="0">
              <a:solidFill>
                <a:schemeClr val="bg1"/>
              </a:solidFill>
              <a:latin typeface="源流明體 B" panose="02020700000000000000" pitchFamily="18" charset="-120"/>
              <a:ea typeface="源流明體 B" panose="02020700000000000000" pitchFamily="18" charset="-12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AI</a:t>
            </a: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素養 </a:t>
            </a:r>
          </a:p>
        </p:txBody>
      </p:sp>
      <p:sp>
        <p:nvSpPr>
          <p:cNvPr id="44" name="向左箭號圖說文字 43"/>
          <p:cNvSpPr/>
          <p:nvPr/>
        </p:nvSpPr>
        <p:spPr>
          <a:xfrm>
            <a:off x="7296079" y="4576472"/>
            <a:ext cx="3541003" cy="1173575"/>
          </a:xfrm>
          <a:prstGeom prst="leftArrowCallout">
            <a:avLst/>
          </a:prstGeom>
          <a:solidFill>
            <a:srgbClr val="B5885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TW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Python </a:t>
            </a: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與資料科學入門</a:t>
            </a:r>
          </a:p>
          <a:p>
            <a:pPr algn="ctr">
              <a:lnSpc>
                <a:spcPct val="150000"/>
              </a:lnSpc>
            </a:pPr>
            <a:r>
              <a:rPr lang="zh-TW" altLang="en-US" sz="12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大數據：資料採集與視覺化</a:t>
            </a:r>
          </a:p>
          <a:p>
            <a:pPr algn="ctr">
              <a:lnSpc>
                <a:spcPct val="150000"/>
              </a:lnSpc>
            </a:pPr>
            <a:r>
              <a:rPr lang="zh-TW" altLang="en-US" sz="1400" b="1" dirty="0">
                <a:solidFill>
                  <a:schemeClr val="bg1"/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數位科技與學習應用</a:t>
            </a:r>
          </a:p>
        </p:txBody>
      </p:sp>
    </p:spTree>
    <p:extLst>
      <p:ext uri="{BB962C8B-B14F-4D97-AF65-F5344CB8AC3E}">
        <p14:creationId xmlns:p14="http://schemas.microsoft.com/office/powerpoint/2010/main" val="42419927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020" y="-22860"/>
            <a:ext cx="2724150" cy="202819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020" y="4767580"/>
            <a:ext cx="1676400" cy="219456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132330" y="2044065"/>
            <a:ext cx="7925435" cy="2760980"/>
          </a:xfrm>
          <a:prstGeom prst="rect">
            <a:avLst/>
          </a:prstGeom>
          <a:noFill/>
          <a:ln w="31750" cap="flat">
            <a:solidFill>
              <a:srgbClr val="6D986A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41137" y="2331484"/>
            <a:ext cx="310997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6D986A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PART.0</a:t>
            </a:r>
            <a:r>
              <a:rPr lang="en-US" altLang="zh-TW" sz="3600" dirty="0">
                <a:solidFill>
                  <a:srgbClr val="6D986A"/>
                </a:solidFill>
                <a:latin typeface="方正清刻本悦宋简体" panose="02000000000000000000" charset="-122"/>
                <a:ea typeface="方正清刻本悦宋简体" panose="02000000000000000000" charset="-122"/>
              </a:rPr>
              <a:t>8</a:t>
            </a:r>
            <a:endParaRPr lang="en-US" altLang="zh-CN" sz="3600" dirty="0">
              <a:solidFill>
                <a:srgbClr val="6D986A"/>
              </a:solidFill>
              <a:latin typeface="方正清刻本悦宋简体" panose="02000000000000000000" charset="-122"/>
              <a:ea typeface="方正清刻本悦宋简体" panose="020000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48380" y="3103245"/>
            <a:ext cx="509524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TW" altLang="en-US" sz="3200" dirty="0">
                <a:solidFill>
                  <a:srgbClr val="6D986A"/>
                </a:solidFill>
                <a:latin typeface="源流明體 H" panose="02020900000000000000" pitchFamily="18" charset="-120"/>
                <a:ea typeface="源流明體 H" panose="02020900000000000000" pitchFamily="18" charset="-120"/>
              </a:rPr>
              <a:t>數位科技微學程修課情形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62530" y="3716020"/>
            <a:ext cx="7266940" cy="40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</a:pPr>
            <a:r>
              <a:rPr lang="zh-TW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源流明體 B" panose="02020700000000000000" pitchFamily="18" charset="-120"/>
                <a:ea typeface="源流明體 B" panose="02020700000000000000" pitchFamily="18" charset="-120"/>
              </a:rPr>
              <a:t>推動數位科技微學程，強化學生跨域整合與數位應用能力，提升就業競爭力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源流明體 B" panose="02020700000000000000" pitchFamily="18" charset="-120"/>
              <a:ea typeface="源流明體 B" panose="02020700000000000000" pitchFamily="18" charset="-120"/>
              <a:sym typeface="+mn-ea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226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-6350" y="307975"/>
            <a:ext cx="3248660" cy="499110"/>
            <a:chOff x="-6350" y="307975"/>
            <a:chExt cx="3248660" cy="499110"/>
          </a:xfrm>
        </p:grpSpPr>
        <p:grpSp>
          <p:nvGrpSpPr>
            <p:cNvPr id="58" name="组合 1"/>
            <p:cNvGrpSpPr/>
            <p:nvPr/>
          </p:nvGrpSpPr>
          <p:grpSpPr>
            <a:xfrm>
              <a:off x="-6350" y="307975"/>
              <a:ext cx="3248660" cy="499110"/>
              <a:chOff x="-35" y="638"/>
              <a:chExt cx="5116" cy="786"/>
            </a:xfrm>
            <a:solidFill>
              <a:srgbClr val="6D986A"/>
            </a:solidFill>
          </p:grpSpPr>
          <p:sp>
            <p:nvSpPr>
              <p:cNvPr id="59" name="矩形 58"/>
              <p:cNvSpPr/>
              <p:nvPr/>
            </p:nvSpPr>
            <p:spPr>
              <a:xfrm>
                <a:off x="-35" y="638"/>
                <a:ext cx="4613" cy="7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等腰三角形 59"/>
              <p:cNvSpPr/>
              <p:nvPr/>
            </p:nvSpPr>
            <p:spPr>
              <a:xfrm rot="5400000">
                <a:off x="4436" y="779"/>
                <a:ext cx="787" cy="50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" name="矩形 71"/>
            <p:cNvSpPr/>
            <p:nvPr/>
          </p:nvSpPr>
          <p:spPr>
            <a:xfrm>
              <a:off x="220345" y="363220"/>
              <a:ext cx="2862262" cy="38862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08</a:t>
              </a:r>
              <a:r>
                <a:rPr lang="zh-TW" altLang="en-US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 數位科技微學程修課情形</a:t>
              </a:r>
            </a:p>
          </p:txBody>
        </p:sp>
      </p:grpSp>
      <p:grpSp>
        <p:nvGrpSpPr>
          <p:cNvPr id="75" name="组合 77"/>
          <p:cNvGrpSpPr/>
          <p:nvPr/>
        </p:nvGrpSpPr>
        <p:grpSpPr>
          <a:xfrm>
            <a:off x="1406203" y="1514061"/>
            <a:ext cx="9344969" cy="328930"/>
            <a:chOff x="1425" y="2407"/>
            <a:chExt cx="11092" cy="518"/>
          </a:xfrm>
        </p:grpSpPr>
        <p:cxnSp>
          <p:nvCxnSpPr>
            <p:cNvPr id="81" name="直接连接符​​ 6"/>
            <p:cNvCxnSpPr/>
            <p:nvPr/>
          </p:nvCxnSpPr>
          <p:spPr bwMode="auto">
            <a:xfrm flipV="1">
              <a:off x="4946" y="2863"/>
              <a:ext cx="7571" cy="3"/>
            </a:xfrm>
            <a:prstGeom prst="line">
              <a:avLst/>
            </a:prstGeom>
            <a:solidFill>
              <a:srgbClr val="6D986A"/>
            </a:solidFill>
            <a:ln w="57150">
              <a:solidFill>
                <a:srgbClr val="9E7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​​ 9"/>
            <p:cNvSpPr/>
            <p:nvPr/>
          </p:nvSpPr>
          <p:spPr bwMode="auto">
            <a:xfrm>
              <a:off x="1425" y="2407"/>
              <a:ext cx="3645" cy="518"/>
            </a:xfrm>
            <a:prstGeom prst="rect">
              <a:avLst/>
            </a:prstGeom>
            <a:solidFill>
              <a:srgbClr val="9E7D64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至少修習</a:t>
              </a:r>
              <a:r>
                <a:rPr lang="en-US" altLang="zh-TW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8</a:t>
              </a:r>
              <a:r>
                <a:rPr lang="zh-TW" altLang="en-US" sz="2000" b="1" kern="0" dirty="0">
                  <a:solidFill>
                    <a:schemeClr val="bg1"/>
                  </a:solidFill>
                  <a:latin typeface="源流明體 R" panose="02020400000000000000" pitchFamily="18" charset="-120"/>
                  <a:ea typeface="源流明體 R" panose="02020400000000000000" pitchFamily="18" charset="-120"/>
                </a:rPr>
                <a:t>學分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456034"/>
              </p:ext>
            </p:extLst>
          </p:nvPr>
        </p:nvGraphicFramePr>
        <p:xfrm>
          <a:off x="1406203" y="2024591"/>
          <a:ext cx="934497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4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4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11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基礎課程</a:t>
                      </a:r>
                      <a:r>
                        <a:rPr lang="en-US" altLang="zh-TW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(</a:t>
                      </a:r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大一</a:t>
                      </a:r>
                      <a:r>
                        <a:rPr lang="en-US" altLang="zh-TW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)</a:t>
                      </a:r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｜通識師資</a:t>
                      </a:r>
                    </a:p>
                  </a:txBody>
                  <a:tcPr>
                    <a:lnR w="3810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D986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進階應用課程</a:t>
                      </a:r>
                      <a:r>
                        <a:rPr lang="en-US" altLang="zh-TW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(</a:t>
                      </a:r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第一至大四</a:t>
                      </a:r>
                      <a:r>
                        <a:rPr lang="en-US" altLang="zh-TW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)</a:t>
                      </a:r>
                      <a:r>
                        <a:rPr lang="zh-TW" altLang="en-US" sz="1600" b="1" kern="0" dirty="0">
                          <a:solidFill>
                            <a:schemeClr val="bg1"/>
                          </a:solidFill>
                          <a:latin typeface="源流明體 R" panose="02020400000000000000" pitchFamily="18" charset="-120"/>
                          <a:ea typeface="源流明體 R" panose="02020400000000000000" pitchFamily="18" charset="-120"/>
                          <a:cs typeface="+mn-cs"/>
                        </a:rPr>
                        <a:t> ｜各系支援師資</a:t>
                      </a:r>
                    </a:p>
                  </a:txBody>
                  <a:tcPr>
                    <a:lnL w="3810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D98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2195"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邏輯與運算思維</a:t>
                      </a:r>
                      <a:endParaRPr lang="en-US" altLang="zh-TW" sz="14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L" panose="02020300000000000000" pitchFamily="18" charset="-120"/>
                        <a:ea typeface="源流明體 L" panose="02020300000000000000" pitchFamily="18" charset="-120"/>
                      </a:endParaRP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網頁視覺程式設計</a:t>
                      </a:r>
                      <a:endParaRPr lang="en-US" altLang="zh-TW" sz="14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L" panose="02020300000000000000" pitchFamily="18" charset="-120"/>
                        <a:ea typeface="源流明體 L" panose="02020300000000000000" pitchFamily="18" charset="-120"/>
                      </a:endParaRP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en-US" altLang="zh-TW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APP</a:t>
                      </a: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程式設計入門</a:t>
                      </a:r>
                      <a:endParaRPr lang="en-US" altLang="zh-TW" sz="14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L" panose="02020300000000000000" pitchFamily="18" charset="-120"/>
                        <a:ea typeface="源流明體 L" panose="02020300000000000000" pitchFamily="18" charset="-120"/>
                      </a:endParaRP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en-US" altLang="zh-TW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Python </a:t>
                      </a: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與資料科學入門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大數據：資料採集與視覺化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數位科技與學習應用</a:t>
                      </a:r>
                    </a:p>
                  </a:txBody>
                  <a:tcPr>
                    <a:lnR w="3810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7ED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電子商務程式設計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行銷網頁視覺設計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智慧醫療導論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健康</a:t>
                      </a:r>
                      <a:r>
                        <a:rPr lang="en-US" altLang="zh-TW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App</a:t>
                      </a: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程式設計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智慧健康科技應用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數位內容製作實務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數位敘事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醫學數位內容</a:t>
                      </a:r>
                      <a:endParaRPr lang="en-US" altLang="zh-TW" sz="14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L" panose="02020300000000000000" pitchFamily="18" charset="-120"/>
                        <a:ea typeface="源流明體 L" panose="02020300000000000000" pitchFamily="18" charset="-120"/>
                      </a:endParaRP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視窗程式設計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數位系統設計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資料科學概論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人工智慧軟體應用</a:t>
                      </a:r>
                    </a:p>
                  </a:txBody>
                  <a:tcPr>
                    <a:lnL w="3810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7ED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物件導向程式設計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系統分析與設計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en-US" altLang="zh-TW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3D</a:t>
                      </a: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電腦動畫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en-US" altLang="zh-TW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AI</a:t>
                      </a: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深度學習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影片剪輯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人工智慧應用商務與網路資訊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應用生物資訊學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數位媒體設計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數位廣告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互動程式設計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跨文化數位傳播</a:t>
                      </a:r>
                    </a:p>
                    <a:p>
                      <a:pPr algn="ctr">
                        <a:lnSpc>
                          <a:spcPts val="2200"/>
                        </a:lnSpc>
                      </a:pPr>
                      <a:r>
                        <a:rPr lang="zh-TW" altLang="en-US" sz="14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L" panose="02020300000000000000" pitchFamily="18" charset="-120"/>
                          <a:ea typeface="源流明體 L" panose="02020300000000000000" pitchFamily="18" charset="-120"/>
                        </a:rPr>
                        <a:t>擴增實境應用設計</a:t>
                      </a:r>
                    </a:p>
                  </a:txBody>
                  <a:tcPr>
                    <a:solidFill>
                      <a:srgbClr val="E7ED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1458277" y="5860018"/>
            <a:ext cx="320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流明體 B" panose="02020700000000000000" pitchFamily="18" charset="-120"/>
                <a:ea typeface="源流明體 B" panose="02020700000000000000" pitchFamily="18" charset="-120"/>
              </a:rPr>
              <a:t>113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流明體 B" panose="02020700000000000000" pitchFamily="18" charset="-120"/>
                <a:ea typeface="源流明體 B" panose="02020700000000000000" pitchFamily="18" charset="-120"/>
              </a:rPr>
              <a:t>學年度累計修讀</a:t>
            </a:r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流明體 B" panose="02020700000000000000" pitchFamily="18" charset="-120"/>
                <a:ea typeface="源流明體 B" panose="02020700000000000000" pitchFamily="18" charset="-120"/>
              </a:rPr>
              <a:t>1093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流明體 B" panose="02020700000000000000" pitchFamily="18" charset="-120"/>
                <a:ea typeface="源流明體 B" panose="02020700000000000000" pitchFamily="18" charset="-120"/>
              </a:rPr>
              <a:t>人次</a:t>
            </a:r>
            <a:endParaRPr lang="zh-TW" altLang="en-US" dirty="0">
              <a:solidFill>
                <a:schemeClr val="tx1">
                  <a:lumMod val="75000"/>
                  <a:lumOff val="25000"/>
                </a:schemeClr>
              </a:solidFill>
              <a:latin typeface="源流明體 B" panose="02020700000000000000" pitchFamily="18" charset="-120"/>
              <a:ea typeface="源流明體 B" panose="020207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264061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叶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8495" y="-9525"/>
            <a:ext cx="2252980" cy="1677670"/>
          </a:xfrm>
          <a:prstGeom prst="rect">
            <a:avLst/>
          </a:prstGeom>
        </p:spPr>
      </p:pic>
      <p:pic>
        <p:nvPicPr>
          <p:cNvPr id="5" name="图片 4" descr="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5189855"/>
            <a:ext cx="1343660" cy="1758950"/>
          </a:xfrm>
          <a:prstGeom prst="rect">
            <a:avLst/>
          </a:prstGeom>
        </p:spPr>
      </p:pic>
      <p:pic>
        <p:nvPicPr>
          <p:cNvPr id="54" name="圖片 53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1174" y="5939545"/>
            <a:ext cx="1117487" cy="787828"/>
          </a:xfrm>
          <a:prstGeom prst="rect">
            <a:avLst/>
          </a:prstGeom>
        </p:spPr>
      </p:pic>
      <p:grpSp>
        <p:nvGrpSpPr>
          <p:cNvPr id="17" name="群組 16"/>
          <p:cNvGrpSpPr/>
          <p:nvPr/>
        </p:nvGrpSpPr>
        <p:grpSpPr>
          <a:xfrm>
            <a:off x="-6350" y="307975"/>
            <a:ext cx="3248660" cy="499110"/>
            <a:chOff x="-6350" y="307975"/>
            <a:chExt cx="3248660" cy="499110"/>
          </a:xfrm>
        </p:grpSpPr>
        <p:grpSp>
          <p:nvGrpSpPr>
            <p:cNvPr id="18" name="组合 1"/>
            <p:cNvGrpSpPr/>
            <p:nvPr/>
          </p:nvGrpSpPr>
          <p:grpSpPr>
            <a:xfrm>
              <a:off x="-6350" y="307975"/>
              <a:ext cx="3248660" cy="499110"/>
              <a:chOff x="-35" y="638"/>
              <a:chExt cx="5116" cy="786"/>
            </a:xfrm>
            <a:solidFill>
              <a:srgbClr val="6D986A"/>
            </a:solidFill>
          </p:grpSpPr>
          <p:sp>
            <p:nvSpPr>
              <p:cNvPr id="20" name="矩形 19"/>
              <p:cNvSpPr/>
              <p:nvPr/>
            </p:nvSpPr>
            <p:spPr>
              <a:xfrm>
                <a:off x="-35" y="638"/>
                <a:ext cx="4613" cy="78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5400000">
                <a:off x="4436" y="779"/>
                <a:ext cx="787" cy="504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220345" y="363220"/>
              <a:ext cx="2862262" cy="38862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11</a:t>
              </a:r>
              <a:r>
                <a:rPr lang="zh-TW" altLang="en-US" sz="1600" b="1" dirty="0">
                  <a:solidFill>
                    <a:schemeClr val="bg1"/>
                  </a:solidFill>
                  <a:latin typeface="源流明體 B" panose="02020700000000000000" pitchFamily="18" charset="-120"/>
                  <a:ea typeface="源流明體 B" panose="02020700000000000000" pitchFamily="18" charset="-120"/>
                </a:rPr>
                <a:t> 挑戰與未來規劃</a:t>
              </a: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03792"/>
              </p:ext>
            </p:extLst>
          </p:nvPr>
        </p:nvGraphicFramePr>
        <p:xfrm>
          <a:off x="1743481" y="2019910"/>
          <a:ext cx="9007693" cy="292428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680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6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挑戰</a:t>
                      </a:r>
                    </a:p>
                  </a:txBody>
                  <a:tcPr marL="132254" marR="132254" marT="66127" marB="66127">
                    <a:solidFill>
                      <a:srgbClr val="6D9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未來規劃</a:t>
                      </a:r>
                    </a:p>
                  </a:txBody>
                  <a:tcPr marL="132254" marR="132254" marT="66127" marB="66127">
                    <a:solidFill>
                      <a:srgbClr val="6D9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36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</a:rPr>
                        <a:t>少子女化</a:t>
                      </a:r>
                      <a:endParaRPr lang="en-US" altLang="zh-TW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</a:endParaRPr>
                    </a:p>
                  </a:txBody>
                  <a:tcPr marL="132254" marR="132254" marT="66127" marB="6612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發展遠距教學，吸引境外生修課</a:t>
                      </a:r>
                      <a:endParaRPr lang="en-US" altLang="zh-TW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  <a:cs typeface="+mn-cs"/>
                      </a:endParaRPr>
                    </a:p>
                  </a:txBody>
                  <a:tcPr marL="132254" marR="132254" marT="66127" marB="661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7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</a:rPr>
                        <a:t>學生特質多元化</a:t>
                      </a:r>
                      <a:endParaRPr lang="en-US" altLang="zh-TW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</a:endParaRPr>
                    </a:p>
                  </a:txBody>
                  <a:tcPr marL="132254" marR="132254" marT="66127" marB="6612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1.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 鼓勵多元文化課程</a:t>
                      </a:r>
                      <a:endParaRPr lang="en-US" altLang="zh-TW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2.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 重視差異化教學、課輔</a:t>
                      </a:r>
                      <a:endParaRPr lang="en-US" altLang="zh-TW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  <a:cs typeface="+mn-cs"/>
                      </a:endParaRPr>
                    </a:p>
                  </a:txBody>
                  <a:tcPr marL="132254" marR="132254" marT="66127" marB="661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7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</a:rPr>
                        <a:t>通識教學專業化</a:t>
                      </a:r>
                    </a:p>
                  </a:txBody>
                  <a:tcPr marL="132254" marR="132254" marT="66127" marB="66127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1.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 開發具系科特色的通識課程</a:t>
                      </a:r>
                      <a:endParaRPr lang="en-US" altLang="zh-TW" sz="20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源流明體 B" panose="02020700000000000000" pitchFamily="18" charset="-120"/>
                        <a:ea typeface="源流明體 B" panose="02020700000000000000" pitchFamily="18" charset="-120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2.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 數位</a:t>
                      </a: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AI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及</a:t>
                      </a:r>
                      <a:r>
                        <a:rPr lang="en-US" altLang="zh-TW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SDGS</a:t>
                      </a:r>
                      <a:r>
                        <a:rPr lang="zh-TW" altLang="en-US" sz="2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源流明體 B" panose="02020700000000000000" pitchFamily="18" charset="-120"/>
                          <a:ea typeface="源流明體 B" panose="02020700000000000000" pitchFamily="18" charset="-120"/>
                          <a:cs typeface="+mn-cs"/>
                        </a:rPr>
                        <a:t>議題融入通識教學</a:t>
                      </a:r>
                    </a:p>
                  </a:txBody>
                  <a:tcPr marL="132254" marR="132254" marT="66127" marB="661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658618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</TotalTime>
  <Words>694</Words>
  <Application>Microsoft Office PowerPoint</Application>
  <PresentationFormat>寬螢幕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4" baseType="lpstr">
      <vt:lpstr>等线</vt:lpstr>
      <vt:lpstr>宋体</vt:lpstr>
      <vt:lpstr>方正清刻本悦宋简体</vt:lpstr>
      <vt:lpstr>新細明體</vt:lpstr>
      <vt:lpstr>源流明體 B</vt:lpstr>
      <vt:lpstr>源流明體 H</vt:lpstr>
      <vt:lpstr>源流明體 L</vt:lpstr>
      <vt:lpstr>源流明體 R</vt:lpstr>
      <vt:lpstr>標楷體</vt:lpstr>
      <vt:lpstr>Arial</vt:lpstr>
      <vt:lpstr>Calibri</vt:lpstr>
      <vt:lpstr>Times New Roman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user</cp:lastModifiedBy>
  <cp:revision>129</cp:revision>
  <dcterms:created xsi:type="dcterms:W3CDTF">2017-10-30T12:45:31Z</dcterms:created>
  <dcterms:modified xsi:type="dcterms:W3CDTF">2025-06-02T13:54:47Z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</Properties>
</file>